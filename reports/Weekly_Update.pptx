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01168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Weekly Update: Analysis Complete, Paper Drafted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Do AI Adoption Signals Predict Company Performance?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3291840" cy="502920"/>
          </a:xfrm>
          <a:prstGeom prst="round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Data collection 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572000"/>
            <a:ext cx="3291840" cy="502920"/>
          </a:xfrm>
          <a:prstGeom prst="round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Core analysis 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572000"/>
            <a:ext cx="3566160" cy="502920"/>
          </a:xfrm>
          <a:prstGeom prst="round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Paper  FULL DRAFT (12 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7C9D0"/>
                </a:solidFill>
                <a:latin typeface="Calibri"/>
              </a:rPr>
              <a:t>DESIGN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The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230"/>
                </a:solidFill>
                <a:latin typeface="Calibri"/>
              </a:rPr>
              <a:t>X — AI adoption signals (4 families)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79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286000"/>
                <a:gridCol w="914400"/>
                <a:gridCol w="4206240"/>
              </a:tblGrid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Larridin scores (adoption / proficiency / impact / maturity)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Larridin Tracker, Jan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Composite evidence-based AI adoption, 1–5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Narrative concreteness  (ours)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10-K filings via LLM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Deployed, quantified AI vs. aspirational language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Investment intensity  (ours)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10-K filings via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447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Scale of AI commitment — building or buying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AI-hiring builder rate  (ours)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31k job postings, Jun+Jul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Share of hiring that builds AI systems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230"/>
                </a:solidFill>
                <a:latin typeface="Calibri"/>
              </a:rPr>
              <a:t>Y — outcomes    &amp;    Controls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023360"/>
          <a:ext cx="111556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731520"/>
                <a:gridCol w="6035040"/>
              </a:tblGrid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Controls (every regression)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Revenue growth YoY, Q1-2026  (primary)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Sector fixed effects (12)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Operating-margin change YoY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Firm size (log market cap at score date)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</a:tr>
              <a:tr h="384048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Forward stock returns, 1–4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Growth momentum (pre-signal revenue growth)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Design: cross-section — signals measured Jan–Mar 2026, outcomes realized afterward. Signals enter as percentile ranks.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CMU Capstone × Larridin   |   Weekly Update —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7C9D0"/>
                </a:solidFill>
                <a:latin typeface="Calibri"/>
              </a:rPr>
              <a:t>DESIGN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Methodology: Make the Signal Prove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Specification ladder — each signal must survive four increasingly demanding tests: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E6E6E"/>
                </a:solidFill>
                <a:latin typeface="Calibri"/>
              </a:rPr>
              <a:t>–  (1) raw association  →  (2) + sector effects  →  (3) + firm size  →  (4) + growth momentum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The momentum control is the key test: growing firms adopt more AI AND keep growing — spec (4) separates the two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Rigor stack: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E6E6E"/>
                </a:solidFill>
                <a:latin typeface="Calibri"/>
              </a:rPr>
              <a:t>–  HC3 robust standard errors; outcomes winsorized 1%/99%; signals rank-transformed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E6E6E"/>
                </a:solidFill>
                <a:latin typeface="Calibri"/>
              </a:rPr>
              <a:t>–  Multiple-testing control (Benjamini–Hochberg FDR) across all signal × outcome tests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E6E6E"/>
                </a:solidFill>
                <a:latin typeface="Calibri"/>
              </a:rPr>
              <a:t>–  Classifier validated vs. 657 independent labels (~90%); 87–90% of LLM evidence quotes verify verbatim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E6E6E"/>
                </a:solidFill>
                <a:latin typeface="Calibri"/>
              </a:rPr>
              <a:t>–  Complete-case robustness + per-cell sample sizes reported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CMU Capstone × Larridin   |   Weekly Update —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7C9D0"/>
                </a:solidFill>
                <a:latin typeface="Calibri"/>
              </a:rPr>
              <a:t>RESULTS · 1 OF 3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Headline: Concreteness Survives Everything</a:t>
            </a:r>
          </a:p>
        </p:txBody>
      </p:sp>
      <p:pic>
        <p:nvPicPr>
          <p:cNvPr id="4" name="Picture 3" descr="survival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675120" cy="3688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37160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All signals associate with revenue growth raw — the phenomenon is real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Composite scores attenuate once size enters (they aggregate scale-correlated parts)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Narrative concreteness survives all controls: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6E6E6E"/>
                </a:solidFill>
                <a:latin typeface="Calibri"/>
              </a:rPr>
              <a:t>–  +8.7pp revenue-growth gap, low → high  (p = 0.007)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6E6E6E"/>
                </a:solidFill>
                <a:latin typeface="Calibri"/>
              </a:rPr>
              <a:t>–  passes FDR in the pre-specified primary family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Sorts are monotone: conc 2 → 5 bins = 7.3% → 52%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CMU Capstone × Larridin   |   Weekly Update —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7C9D0"/>
                </a:solidFill>
                <a:latin typeface="Calibri"/>
              </a:rPr>
              <a:t>RESULTS · 2 OF 3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Growth Channel, Not (Yet) Margins or Prices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556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291840"/>
                <a:gridCol w="5486400"/>
              </a:tblGrid>
              <a:tr h="502920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</a:tr>
              <a:tr h="502920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Significant (conc +8.7pp***)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AI adoption is visible in top-line fundamentals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Operating margins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Null across all signals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AI is a growth story, not (yet) a cost story</a:t>
                      </a:r>
                    </a:p>
                  </a:txBody>
                  <a:tcPr anchor="ctr">
                    <a:solidFill>
                      <a:srgbClr val="F4F1F2"/>
                    </a:solidFill>
                  </a:tcPr>
                </a:tc>
              </a:tr>
              <a:tr h="502920">
                <a:tc>
                  <a:txBody>
                    <a:bodyPr wrap="square" lIns="54864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Stock returns (4-mo)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Null after FDR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18288" bIns="18288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Public signals already priced — consistent with market 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230"/>
                </a:solidFill>
                <a:latin typeface="Calibri"/>
              </a:rPr>
              <a:t>Value-chain heterogeneity (S&amp;P 500, 4-category classification)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AI-Infrastructure suppliers: +48.9% mean 4-month return; +36.8pp vs. peers with sector &amp; size controls (p&lt;0.0001)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Concreteness→growth link significant WITHIN Physical-Asset/Late Adopters (p=0.03, n=214) —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6E6E6E"/>
                </a:solidFill>
                <a:latin typeface="Calibri"/>
              </a:rPr>
              <a:t>–  the signal works best precisely where AI claims are cheapest to make and hardest to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CMU Capstone × Larridin   |   Weekly Update —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7C9D0"/>
                </a:solidFill>
                <a:latin typeface="Calibri"/>
              </a:rPr>
              <a:t>NARRATIVE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The Story We Can Tell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743200" cy="1280160"/>
          </a:xfrm>
          <a:prstGeom prst="round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The thesis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8138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Evidence-based AI adoption measurement works: every signal family associates with real revenue growth. Top-quintile firms grew ~2x bottom-quintile.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2743200" cy="1280160"/>
          </a:xfrm>
          <a:prstGeom prst="round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Depth is the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71800"/>
            <a:ext cx="8138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Surface AI mentions carry nothing; composite scores capture the phenomenon; the deepest evidence-anchored dimension — disclosure concreteness — survives every control. Structured measurement is exactly what separates signal from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2743200" cy="1280160"/>
          </a:xfrm>
          <a:prstGeom prst="round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The product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572000"/>
            <a:ext cx="8138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The concreteness dimension plugs straight into the Tracker; the hiring pipeline scales the POC to 536 companies monthly; each new score vintage compounds the dataset toward causal designs.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One-liner: “CMU-validated — evidence-based AI adoption measurement predicts real revenue growth, and measurement depth is what separates signal from noise.”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CMU Capstone × Larridin   |   Weekly Update —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7C9D0"/>
                </a:solidFill>
                <a:latin typeface="Calibri"/>
              </a:rPr>
              <a:t>PLAN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Status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303520" cy="457200"/>
          </a:xfrm>
          <a:prstGeom prst="round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DONE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July hiring snapshot: 536 companies, 17.3k postings (month 2 of panel)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Signal reliability estimate: ρ = 0.54 month-over-month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Controls pulled (size, momentum) — full regression suite run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Value-chain segmentation integrated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Full paper draft: 12 pages, 6 tables, compiled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03520" cy="45720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Team review of paper draft → revisions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Final presentation deck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Optional: productivity outcome (employee extraction)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Stretch: dashboard wiring (deprioritized vs. paper)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CMU Capstone × Larridin   |   Weekly Update —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